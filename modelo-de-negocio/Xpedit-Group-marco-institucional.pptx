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6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XPEDIT GROUP    ·    OCTUBRE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74519"/>
            <a:ext cx="1051560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 dirty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Donde </a:t>
            </a:r>
            <a:r>
              <a:rPr sz="5400" b="0" i="0" dirty="0" err="1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corresponde</a:t>
            </a:r>
            <a:r>
              <a:rPr sz="5400" b="0" i="0" dirty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 dirty="0" err="1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cuando</a:t>
            </a:r>
            <a:r>
              <a:rPr sz="5400" b="0" i="0" dirty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 </a:t>
            </a:r>
            <a:r>
              <a:rPr sz="5400" b="0" i="0" dirty="0" err="1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importa</a:t>
            </a:r>
            <a:r>
              <a:rPr sz="5400" b="0" i="0" dirty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4069080"/>
            <a:ext cx="1234440" cy="36576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429768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6F4EF"/>
                </a:solidFill>
                <a:latin typeface="Segoe UI"/>
                <a:ea typeface="Segoe UI"/>
                <a:cs typeface="Segoe UI"/>
              </a:rPr>
              <a:t>Marco institucional, principios de actuación ética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6F4EF"/>
                </a:solidFill>
                <a:latin typeface="Segoe UI"/>
                <a:ea typeface="Segoe UI"/>
                <a:cs typeface="Segoe UI"/>
              </a:rPr>
              <a:t>y régimen de conducta.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989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6F4EF"/>
                </a:solidFill>
                <a:latin typeface="Segoe UI"/>
                <a:ea typeface="Segoe UI"/>
                <a:cs typeface="Segoe UI"/>
              </a:rPr>
              <a:t>Versión 1.0    ·    Documento institucional    ·    Argentina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EL DOCUMENTO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Tres piezas, un solo código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02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508760"/>
            <a:ext cx="1110996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764792"/>
            <a:ext cx="90525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Marco institucional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Valores, misión y visión. La promesa de marca y las fronteras del módulo.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063239"/>
            <a:ext cx="1110996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319272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319272"/>
            <a:ext cx="90525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Principios de actuación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Criterios para decidir y para tratar con afiliados, clientes, equipo, proveedores y la comunidad.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617720"/>
            <a:ext cx="1110996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873752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873752"/>
            <a:ext cx="90525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Régimen de conducta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Conductas prohibidas para quien diseña, construye, comunica o administra Xpedit.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La emergencia, dentro de la app de la cobertura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03   / 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7160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SaaS de bandera blanca para obras sociales y prepagas. El afiliado no instala otra aplicación. Xpedit no despacha ambulancias: el pedido confirmado entra a la red que la cobertura ya contrató.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31720"/>
            <a:ext cx="267004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505456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2926080"/>
            <a:ext cx="438912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090672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Teléfono bloqueado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947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Tres pulsaciones abren la ventana, sin buscar la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2331720"/>
            <a:ext cx="267004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2505456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84448" y="2926080"/>
            <a:ext cx="438912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3090672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Confirmación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7947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Solo el deslizamiento envía. A los 10 segundos se cierra.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331720"/>
            <a:ext cx="267004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2505456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26080"/>
            <a:ext cx="438912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090672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Paquete mínimo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7947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Ficha, cobertura, contacto y GPS, cifrados.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9408" y="2331720"/>
            <a:ext cx="267004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8864" y="2505456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17152" y="2926080"/>
            <a:ext cx="438912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98864" y="3090672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Cartilla vigente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37947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El destino es un prestador con convenio de esa cobertura.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02920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La ficha —alergias, grupo sanguíneo, cobertura y contacto— se carga en calma. En la crisis, la decisión es una: confirmar o no. La ficha de esta etapa no es la historia clínica.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La confianza está en la cobertura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04   / 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716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Encuesta de validación, N = 384. El código toma estos resultados como deberes de diseño.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4884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46888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50 %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7" y="3566160"/>
            <a:ext cx="566928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79476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Confía si la solución la ofrece su obra social o prepaga.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14884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246888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5 %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6008" y="3566160"/>
            <a:ext cx="566928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79476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Confiaría si fuera una aplicación independiente.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14884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46888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60 %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8" y="3566160"/>
            <a:ext cx="566928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379476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Señala la demora de la ayuda como la mayor preocupación.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Quién custodia, y con qué 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05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44752"/>
            <a:ext cx="11109960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1700784"/>
            <a:ext cx="64008" cy="566928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591056"/>
            <a:ext cx="228600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Titular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591056"/>
            <a:ext cx="393192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El afiliado, o quien está a cargo si la ficha es de un familiar.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591056"/>
            <a:ext cx="402336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Decide, accede, rectifica y puede pedir la supresión.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651760"/>
            <a:ext cx="11109960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" y="2907792"/>
            <a:ext cx="64008" cy="566928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798064"/>
            <a:ext cx="228600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Responsable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98064"/>
            <a:ext cx="393192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La obra social o la prepaga.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798064"/>
            <a:ext cx="402336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Define la finalidad, informa y responde ante el titular.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858768"/>
            <a:ext cx="11109960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0352" y="4114800"/>
            <a:ext cx="64008" cy="566928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005072"/>
            <a:ext cx="228600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Encargado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005072"/>
            <a:ext cx="393192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005072"/>
            <a:ext cx="402336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Trata los datos solo por instrucciones del responsable.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065776"/>
            <a:ext cx="11109960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0352" y="5321808"/>
            <a:ext cx="64008" cy="566928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212080"/>
            <a:ext cx="228600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Destinatarios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212080"/>
            <a:ext cx="393192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Prestador de la cartilla y contacto designado.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212080"/>
            <a:ext cx="402336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Reciben lo necesario para salir o para ser avisados.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6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245059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Marco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77639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F4EF"/>
                </a:solidFill>
                <a:latin typeface="Segoe UI"/>
                <a:ea typeface="Segoe UI"/>
                <a:cs typeface="Segoe UI"/>
              </a:rPr>
              <a:t>Valores, misión, visión y las fronteras que cambian el producto si se cruzan.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MARCO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Misión y visión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07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63040"/>
            <a:ext cx="111099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MISIÓN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Hacer que, en una emergencia, la persona con cobertura active la red que ya le corresponde, con los datos justos y una confirmación explícita, mientras el 107 sigue disponible cuando esa es la vía correcta, con la rapidez que amerita dicha emergencia.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794760"/>
            <a:ext cx="11109960" cy="1965960"/>
          </a:xfrm>
          <a:prstGeom prst="roundRect">
            <a:avLst>
              <a:gd name="adj" fmla="val 8000"/>
            </a:avLst>
          </a:prstGeom>
          <a:solidFill>
            <a:srgbClr val="16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VISIÓN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105156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Ser el módulo con el que obras sociales y prepagas responden ese primer minuto: sereno en la crisis, preciso en la derivación y riguroso con los datos que se tratan por cuenta de ellas.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MARCO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Tres valores, con consecuencia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08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6304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783080"/>
            <a:ext cx="306324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Velocidad serena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2926080"/>
            <a:ext cx="50292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315468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66D50"/>
                </a:solidFill>
                <a:latin typeface="Segoe UI"/>
                <a:ea typeface="Segoe UI"/>
                <a:cs typeface="Segoe UI"/>
              </a:rPr>
              <a:t>Inmediatez operativa controlada, sin generar pánico.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389120"/>
            <a:ext cx="3063240" cy="1508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Se acorta el camino. El lenguaje y el color contienen. El rojo de urgencia queda para la confirmación y los estados críticos.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46304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1783080"/>
            <a:ext cx="306324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Precisión operativa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926080"/>
            <a:ext cx="50292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2" y="315468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66D50"/>
                </a:solidFill>
                <a:latin typeface="Segoe UI"/>
                <a:ea typeface="Segoe UI"/>
                <a:cs typeface="Segoe UI"/>
              </a:rPr>
              <a:t>Asignar el prestador que corresponde según la cobertura.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4389120"/>
            <a:ext cx="3063240" cy="1508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El destino sale de la cartilla vigente. Un criterio comercial paralelo no desplaza el convenio.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46304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1783080"/>
            <a:ext cx="306324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Confianza humana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926080"/>
            <a:ext cx="50292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315468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66D50"/>
                </a:solidFill>
                <a:latin typeface="Segoe UI"/>
                <a:ea typeface="Segoe UI"/>
                <a:cs typeface="Segoe UI"/>
              </a:rPr>
              <a:t>Una interfaz y una voz que calman y contienen.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389120"/>
            <a:ext cx="3063240" cy="1508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La persona entiende qué va a pasar antes de confirmar. La marca visible es la de su cobertura.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MARCO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Fronteras del módulo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09   / 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71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Cruzar una de estas fronteras cambia el producto y obliga a revisar el código.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965960"/>
            <a:ext cx="5532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2167128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4884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Ordena el acceso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La atención la presta el efector que la cobertura contrató.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965960"/>
            <a:ext cx="5532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167128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14884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Sin flota propia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no opera ambulancias ni arma una red de móviles.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337560"/>
            <a:ext cx="5532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3538728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52044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La vía pública permanece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El 107 y el 911 siguen cuando esa es la vía que corresponde.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337560"/>
            <a:ext cx="5532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538728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352044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Código rojo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El módulo no es canal de medicina domiciliaria ni de consultas menores.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4709160"/>
            <a:ext cx="5532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19" y="4910328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89204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Bandera blanca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En esta etapa no hay una app de marca Xpedit para el afiliado.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4709160"/>
            <a:ext cx="5532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4910328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489204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Ficha, no historia clínica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No se registran actos médicos, diagnósticos ni evolución.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6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245059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Principios de actuación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77639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F4EF"/>
                </a:solidFill>
                <a:latin typeface="Segoe UI"/>
                <a:ea typeface="Segoe UI"/>
                <a:cs typeface="Segoe UI"/>
              </a:rPr>
              <a:t>Si dos principios entran en tensión, prevalecen la salud, la seguridad y el bienestar de la persona.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PRINCIPIOS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De dónde salen los criterios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11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44752"/>
            <a:ext cx="1110996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1737360"/>
            <a:ext cx="64008" cy="859536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609344"/>
            <a:ext cx="104241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Ingeniería de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Código ACM / IEEE,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versión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5.2. Ocho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principios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. El primero es el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interés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público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: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aprobar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solo software con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fundamento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seguridad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revelar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peligros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y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decir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con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exactitud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qué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hace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el </a:t>
            </a:r>
            <a:r>
              <a:rPr sz="14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producto</a:t>
            </a:r>
            <a:r>
              <a:rPr sz="14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017520"/>
            <a:ext cx="1110996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0352" y="3310127"/>
            <a:ext cx="64008" cy="859536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182112"/>
            <a:ext cx="104241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Privacidad y daño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84448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Código ACM 2018. Evitar el daño, respetar la privacidad —mínimo dato, finalidad, plazo— y diseñar una seguridad que la persona pueda usar bajo estrés.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4590288"/>
            <a:ext cx="1110996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0352" y="4882896"/>
            <a:ext cx="64008" cy="859536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754879"/>
            <a:ext cx="104241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Información de salud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57216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Código IMIA. Autonomía, justicia, beneficencia y no maleficencia, bajados al dato: apertura, seguridad, acceso, la alternativa menos intrusiva y rendición de cuentas.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PRINCIPIOS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Doce criterios de Xpedit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12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173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19" y="16184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19842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La persona primero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3500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Una </a:t>
            </a:r>
            <a:r>
              <a:rPr sz="13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métrica</a:t>
            </a:r>
            <a:r>
              <a:rPr sz="13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, un </a:t>
            </a:r>
            <a:r>
              <a:rPr sz="13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plazo</a:t>
            </a:r>
            <a:r>
              <a:rPr sz="13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o </a:t>
            </a:r>
            <a:r>
              <a:rPr sz="13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una</a:t>
            </a:r>
            <a:r>
              <a:rPr sz="13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demo no </a:t>
            </a:r>
            <a:r>
              <a:rPr sz="13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desplazan</a:t>
            </a:r>
            <a:r>
              <a:rPr sz="13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la </a:t>
            </a:r>
            <a:r>
              <a:rPr sz="13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seguridad</a:t>
            </a:r>
            <a:r>
              <a:rPr sz="13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3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quien</a:t>
            </a:r>
            <a:r>
              <a:rPr sz="13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pide</a:t>
            </a:r>
            <a:r>
              <a:rPr sz="13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b="0" i="0" dirty="0" err="1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ayuda</a:t>
            </a:r>
            <a:r>
              <a:rPr sz="1300" b="0" i="0" dirty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173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6184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842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La confirmación es cuidado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500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La velocidad empieza después de un gesto explícito.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30175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19" y="32186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35844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Mínimo dato, una finalidad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39502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Se informa antes de la carga. Otro uso pide otra 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0175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2186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844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La custodia es del financiador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502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trata por encargo y no arma un archivo propio de salud.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46177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19" y="48188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51846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Verdad operativa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19" y="55504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Lo que se dice del producto coincide con lo que el sistema hace.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46177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8188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1846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La vía pública permanece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5504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El módulo convive con el 107 y el 911.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PRINCIPIOS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Doce criterios de Xpedit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13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173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19" y="16184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19842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Seguridad usable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3500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Un control que en la práctica se saltea deja de ser una protección.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173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6184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842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El secreto continúa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500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La reserva sigue después de terminada la relación con Xpedit.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30175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19" y="32186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35844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Hay rastro, y se repara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39502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Accesos y activaciones quedan registrados. El daño se mitiga y se avisa.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0175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2186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844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La objeción se escucha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502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Plantear un riesgo ético es parte del trabajo, sin represalia.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46177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19" y="48188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51846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Dentro de la competencia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19" y="55504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Se dice el límite de experiencia cuando afecta la seguridad o la licitud.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46177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8188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18464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La cartilla es el criterio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5504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La derivación no suma preferencia por pago, vínculo o conveniencia.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PRINCIPIOS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Con quién, y con qué criterio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14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44752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Afiliado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221992"/>
            <a:ext cx="50292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432304"/>
            <a:ext cx="315468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Es titular de sus datos, no el cliente que paga. La ficha se carga en calma. En la crisis, confirma.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444752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700784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Cliente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62856" y="2221992"/>
            <a:ext cx="50292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2432304"/>
            <a:ext cx="315468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Obra social o prepaga. Compra el módulo y es responsable del archivo. Su interés cabe en el interés público.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444752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700784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Prestador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57616" y="2221992"/>
            <a:ext cx="50292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9328" y="2432304"/>
            <a:ext cx="315468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Recibe el mínimo para salir. Lo elige la cartilla vigente, no un criterio paralelo.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3822191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4078224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Equipo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" y="4599431"/>
            <a:ext cx="50292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4809744"/>
            <a:ext cx="315468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El acceso dura lo que dura la tarea. La objeción ética se registra y se responde.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3822191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44568" y="4078224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Proveedor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62856" y="4599431"/>
            <a:ext cx="50292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44568" y="4809744"/>
            <a:ext cx="315468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Entra con autorización y contrato. No usa los datos para su producto ni elige el país por precio.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3822191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9328" y="4078224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Comunidad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57616" y="4599431"/>
            <a:ext cx="50292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9328" y="4809744"/>
            <a:ext cx="315468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El módulo es para el código rojo. La descongestión del 107 es un efecto buscado, no una cifra ya medida.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6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245059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Régimen de conducta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77639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F4EF"/>
                </a:solidFill>
                <a:latin typeface="Segoe UI"/>
                <a:ea typeface="Segoe UI"/>
                <a:cs typeface="Segoe UI"/>
              </a:rPr>
              <a:t>Sigue prohibido aunque lo pida un cliente, un prestador o alguien con más experiencia.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RÉGIMEN DE CONDUCTA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Cinco grupos, treinta y tres conductas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16   / 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5331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Obliga a quien diseña, desarrolla, prueba, documenta, comunica o administra Xpedit, en el trabajo de esta etapa y en un piloto futuro. El listado completo está en el documento.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111099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249424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01 –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249424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Datos y secreto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31136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Curiosidad, demos, modelos, cesión, publicidad y credenciales ajenas.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926079"/>
            <a:ext cx="111099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072384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11 –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072384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Producto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54096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Confirmación, cifrado, pruebas, defectos ocultos, trazas y cartilla.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3749039"/>
            <a:ext cx="111099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19 – 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895344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Promesa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877055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Reemplazo del 107, flota propia, pánico visual y alta de la ficha incompleta.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4572000"/>
            <a:ext cx="111099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4718304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24 – 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718304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Cliente y equipo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700016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Uso fuera del encargo, soborno, conflicto oculto y represalia.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5394960"/>
            <a:ext cx="111099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5541264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31 – 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541264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Sistema público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522976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Demanda no crítica, esconder el 107 y pruebas que parecen una emergencia real.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RÉGIMEN DE CONDUCTA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Seis reglas para tener a mano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17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173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1709928"/>
            <a:ext cx="64008" cy="87782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6184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Datos reales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039112"/>
            <a:ext cx="502920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No salen del encargo: ni a una demo, ni a un chat, ni a un modelo, ni a una laptop.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173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09928"/>
            <a:ext cx="64008" cy="87782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16184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Sin confirmación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039112"/>
            <a:ext cx="502920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No se debilita el deslizamiento, el cierre a los 10 segundos ni la cancelación para mejorar una métrica.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30175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0352" y="3310127"/>
            <a:ext cx="64008" cy="87782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32186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Defectos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639312"/>
            <a:ext cx="502920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No se oculta un fallo que pueda desviar el pedido, perder la ubicación o exponer una ficha.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0175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91072" y="3310127"/>
            <a:ext cx="64008" cy="87782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7104" y="32186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La promesa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639312"/>
            <a:ext cx="502920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no se presenta como reemplazo del 107, como flota ni como historia clínica.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46177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0352" y="4910328"/>
            <a:ext cx="64008" cy="87782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48188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El contrato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239512"/>
            <a:ext cx="502920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No se ceden ni se conservan datos fuera de lo que el responsable autorizó.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461772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91072" y="4910328"/>
            <a:ext cx="64008" cy="87782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47104" y="48188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La objeción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5239512"/>
            <a:ext cx="502920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No se sanciona a quien señala, de buena fe, un riesgo ético o legal.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RÉGIMEN DE CONDUCTA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Si hay una duda, o si ya pasó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18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6304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6916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774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Frenar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926080"/>
            <a:ext cx="310896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Se detiene el acto que involucra datos reales o un despliegue, antes de seguir.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46304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81144" y="16916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3774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Avisar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926080"/>
            <a:ext cx="310896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Se plantea a quien conduce el proyecto. Si hay cliente afectado, también a su contacto de seguridad o legal.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46304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16916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A66D50"/>
                </a:solidFill>
                <a:latin typeface="Segoe UI Light"/>
                <a:ea typeface="Segoe UI Light"/>
                <a:cs typeface="Segoe UI Ligh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3774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Registrar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926080"/>
            <a:ext cx="310896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Fecha, hecho, decisión y seguimiento. El registro no copia la ficha.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4572000"/>
            <a:ext cx="11109960" cy="1600200"/>
          </a:xfrm>
          <a:prstGeom prst="roundRect">
            <a:avLst>
              <a:gd name="adj" fmla="val 8000"/>
            </a:avLst>
          </a:prstGeom>
          <a:solidFill>
            <a:srgbClr val="16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Ocultar el incidente tiene la misma gravedad que el hecho.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F6F4EF"/>
                </a:solidFill>
                <a:latin typeface="Segoe UI"/>
                <a:ea typeface="Segoe UI"/>
                <a:cs typeface="Segoe UI"/>
              </a:rPr>
              <a:t>Hasta el cierre jurídico del piloto, los entornos de diseño, demostración y prueba usan datos ficticios.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PISO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Lo que estas reglas no pueden aflojar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19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686" y="1444752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700784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Ley 25.326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" y="2221992"/>
            <a:ext cx="54864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450592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Dato de salud es dato sensible. Consentimiento informado, seguridad, secreto y encargo. La autoridad es la AAIP.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47104" y="1700784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Ley 26.529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5392" y="2221992"/>
            <a:ext cx="54864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7104" y="2450592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Intimidad y confidencialidad del paciente. La ficha del módulo se mantiene distinta de la historia clínica.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3776472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032504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Código Penal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" y="4553712"/>
            <a:ext cx="54864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4782312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Artículos 156 y 157 bis: revelar un secreto sin justa causa, y acceder o alterar un banco de datos personales.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776472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4032504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 err="1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Convenio</a:t>
            </a:r>
            <a:r>
              <a:rPr sz="2000" b="0" i="0" dirty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 108+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65392" y="4553712"/>
            <a:ext cx="548640" cy="27432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47104" y="4782312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Ley 27.699. Amplía los datos sensibles a genéticos y biométricos. Esta ficha no los pide.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92608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ANTES DE UN PILOTO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3035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3F49"/>
                </a:solidFill>
                <a:latin typeface="Segoe UI Light"/>
                <a:ea typeface="Segoe UI Light"/>
                <a:cs typeface="Segoe UI Light"/>
              </a:rPr>
              <a:t>Lo que todavía tiene que cerrar un asesor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1051560" cy="32004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Xpedit Group   ·   Marco institucional v1.0   ·  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20   /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89888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554480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99616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Contrato de encargo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499616"/>
            <a:ext cx="649224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Instrucciones, seguridad, subencargados, conservación y destrucción.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2322576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487168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432304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Responsable e inscripción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32304"/>
            <a:ext cx="649224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Confirmar el carácter del financiador y el estado de su archivo ante la AAIP.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3255264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419856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364992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Dónde viven los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364992"/>
            <a:ext cx="649224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Si el alojamiento sale de la Argentina, la base de la transferencia internacional.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4187952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4352544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97680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Texto para el afiliado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297680"/>
            <a:ext cx="649224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Finalidad, destinatarios, contacto de emergencia y familiar a cargo.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5120640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5285231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30368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F49"/>
                </a:solidFill>
                <a:latin typeface="Segoe UI Semibold"/>
                <a:ea typeface="Segoe UI Semibold"/>
                <a:cs typeface="Segoe UI Semibold"/>
              </a:rPr>
              <a:t>Procedimiento de incidente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230368"/>
            <a:ext cx="649224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3F49"/>
                </a:solidFill>
                <a:latin typeface="Segoe UI"/>
                <a:ea typeface="Segoe UI"/>
                <a:cs typeface="Segoe UI"/>
              </a:rPr>
              <a:t>Acordado con el cliente, antes de que exista un caso real.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6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66D50"/>
                </a:solidFill>
                <a:latin typeface="Segoe UI Semibold"/>
                <a:ea typeface="Segoe UI Semibold"/>
                <a:cs typeface="Segoe UI Semibold"/>
              </a:rPr>
              <a:t>XPEDIT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031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s-AR" sz="4800" b="0" i="0" dirty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Donde corresponde,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s-AR" sz="4800" b="0" i="0" dirty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cuando importa.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4160520"/>
            <a:ext cx="1234440" cy="36576"/>
          </a:xfrm>
          <a:prstGeom prst="rect">
            <a:avLst/>
          </a:prstGeom>
          <a:solidFill>
            <a:srgbClr val="A66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44348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sz="1600" b="0" i="0" dirty="0">
              <a:solidFill>
                <a:srgbClr val="F6F4E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58978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6F4EF"/>
                </a:solidFill>
                <a:latin typeface="Segoe UI"/>
                <a:ea typeface="Segoe UI"/>
                <a:cs typeface="Segoe UI"/>
              </a:rPr>
              <a:t>Versión 1.0    ·    Octubre 2026    ·    Documento institucional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2017</Words>
  <Application>Microsoft Office PowerPoint</Application>
  <PresentationFormat>Panorámica</PresentationFormat>
  <Paragraphs>273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Calibri</vt:lpstr>
      <vt:lpstr>Segoe UI</vt:lpstr>
      <vt:lpstr>Segoe UI Light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Xpedit Group — Marco institucional, principios y régimen de conducta</dc:title>
  <dc:subject>Documento institucional v1.0 · octubre 2026</dc:subject>
  <dc:creator>Xpedit Group</dc:creator>
  <cp:keywords/>
  <dc:description>generated using python-pptx</dc:description>
  <cp:lastModifiedBy>Gabriel Acosta</cp:lastModifiedBy>
  <cp:revision>2</cp:revision>
  <dcterms:created xsi:type="dcterms:W3CDTF">2013-01-27T09:14:16Z</dcterms:created>
  <dcterms:modified xsi:type="dcterms:W3CDTF">2026-10-22T18:20:00Z</dcterms:modified>
  <cp:category/>
</cp:coreProperties>
</file>